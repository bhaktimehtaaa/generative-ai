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5" r:id="rId6"/>
    <p:sldId id="257" r:id="rId7"/>
    <p:sldId id="259" r:id="rId8"/>
    <p:sldId id="260" r:id="rId9"/>
    <p:sldId id="261" r:id="rId10"/>
    <p:sldId id="264" r:id="rId11"/>
    <p:sldId id="265" r:id="rId12"/>
    <p:sldId id="267" r:id="rId13"/>
    <p:sldId id="280" r:id="rId14"/>
    <p:sldId id="26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2510-BF12-E2A4-5F6A-AA9183045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C2E4A-FAF0-6EFA-59BF-0CD7D17D2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86F37-093E-9408-FAC6-6CC67DEE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2F220-16E1-4B55-EEE1-32BB88E5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CC8D7-7438-C41B-B154-9399E401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178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DCF6-C676-6053-9F54-946ECF46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BD31-1D10-DDEF-6149-AE9FBE0E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C7B4D-F35B-C91A-3D1F-D80FF560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647EF-4848-2836-BE7B-A62BB8A0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BF217-AB0C-0EEA-F40F-C1672D3E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69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3840-473E-EFE1-71D8-844A2A83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E1E8C-4555-5F7A-CC93-3F8A5BB33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88EE3-3824-2229-8666-08660D3D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21DB1-0644-22E2-394B-61A9B164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1AF6C-018D-8248-29D8-81D75D3F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03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0172-0045-5F07-B0CA-7B0C1BCC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9E97E-7296-4A00-8319-F9BD464A8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D09BD-C553-2D6E-AED8-E5B4CE888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5D32C-CF96-8DDE-DE9F-0B4816E0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82584-A53E-EC4A-D57F-8979AB9F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A074-779C-1E14-FAC1-E9B28A16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97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E39A-86F3-A709-68D3-2ACF2DF34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8D862-4716-F1A3-F966-14F14CEC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1AC89-2C4E-7097-63DE-30D84F602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CAAA0-A8BF-6DB3-E68C-41C37695D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8584E-FC73-A7DC-E301-420586A2F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0DA150-CB14-7D4A-6FB1-7B8D3B5F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E7302-5439-FCA1-00B8-42BD5DFC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DF294-69C3-1CD1-D33D-F97ACECF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30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4A29-5815-E4FB-5BEF-9DEEEEA0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95B0DB-CF2B-077D-4A25-41E1CCBC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8B1B8-664D-EAC7-FE63-B8301E71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29839-AF67-A1E8-4E48-47A04131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6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434C7-FC36-4261-C6E8-0530F4A3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9C45B-FB43-C453-00C4-A8F01F2C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1B3E6-14B3-EFAD-726D-D4DC7D99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18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4873-AC4D-B480-8124-7F6A1C68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A9C95-AFF4-E10C-3A0E-99D92AD1F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E8EEB-66A1-4694-07D4-68F7F7F49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D54FF-41D8-ACC5-4E9A-10836A595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515CB-9C49-54C7-1A00-A2E4D1D9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16776-FF51-2336-E0D2-48119622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06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4C1B3-49E6-A8E1-0D68-23DBC41DC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E52D8B-9E83-2032-9521-995C9BCCB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03694-5347-4A54-093A-297C2EE12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FAC2A-DE22-D041-19B5-6F0495A0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B2BA3-6496-95BC-DED3-6B4E259E9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F73A3-D61D-7757-BAF1-AF8E37DF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46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C986-6952-CE4B-C074-31F37268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652F9-E4C1-B5F6-5362-F3C884BA8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9C140-8AB6-F490-3830-4AC98232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A86FF-D3E9-7B5D-9E07-4F7EC0A9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22FBE-664B-92F8-AC06-659CCE32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7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11559-238B-C0A5-3C15-6DFB205B6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3D694-AA8B-CDCE-5B09-432A73C43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6268F-9E82-E6E1-801F-FA91BF6A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F6D03-3FA7-A03A-6843-7B3EFC55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C59D7-4824-037D-3C98-28D90AB4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45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3E5F6-952E-3176-3844-CD5EEC34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F76AB-AA27-2734-8A10-617900387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8955C-78EA-1C90-7994-E9086CAC5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0F4D-B91A-493E-B3BF-B886AEA27437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17CAC-4BEF-78D2-C12A-8B00E2037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676CA-3C75-B403-B951-56F3B2281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E656C-4997-4E8E-AF74-1F0DF6D7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4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B258-C0D1-6D80-0A10-4BCF42CAC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of Generative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0C669-1518-4161-A607-705186A2FF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by Jagat Pal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62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CD24-DD5C-5510-5F1F-0FE2A8E0D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117986"/>
            <a:ext cx="12123174" cy="412955"/>
          </a:xfrm>
        </p:spPr>
        <p:txBody>
          <a:bodyPr>
            <a:normAutofit/>
          </a:bodyPr>
          <a:lstStyle/>
          <a:p>
            <a:r>
              <a:rPr lang="en-US" sz="1800" dirty="0"/>
              <a:t>Introduction to AI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98A70-9B82-CCA6-CD22-0AED8038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648929"/>
            <a:ext cx="12123174" cy="5528034"/>
          </a:xfrm>
        </p:spPr>
        <p:txBody>
          <a:bodyPr/>
          <a:lstStyle/>
          <a:p>
            <a:r>
              <a:rPr lang="en-US" b="1" dirty="0"/>
              <a:t>What is Artificial Intelligence (AI)?</a:t>
            </a:r>
          </a:p>
          <a:p>
            <a:pPr marL="0" indent="0">
              <a:buNone/>
            </a:pPr>
            <a:r>
              <a:rPr lang="en-US" dirty="0"/>
              <a:t>1.Artificial Intelligence (AI) is a branch of computer science that aims to create systems capable of performing tasks that typically require human intelligence.</a:t>
            </a:r>
          </a:p>
          <a:p>
            <a:pPr marL="0" indent="0">
              <a:buNone/>
            </a:pPr>
            <a:r>
              <a:rPr lang="en-US" dirty="0"/>
              <a:t> 2. These tasks include problem-solving, learning, decision-making, and language understanding. AI is broadly categorized into: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Narrow AI (Weak AI)</a:t>
            </a:r>
            <a:r>
              <a:rPr lang="en-US" dirty="0"/>
              <a:t> – AI designed for a specific task (e.g., recommendation systems, voice assistants).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General AI (Strong AI)</a:t>
            </a:r>
            <a:r>
              <a:rPr lang="en-US" dirty="0"/>
              <a:t> – AI with human-like cognitive abilities (still theoretical).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Super AI</a:t>
            </a:r>
            <a:r>
              <a:rPr lang="en-US" dirty="0"/>
              <a:t> – AI surpassing human intelligence (a hypothetical concept).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33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86EF-26A3-C41C-E3D3-C75EC6E7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147486"/>
            <a:ext cx="12123174" cy="533552"/>
          </a:xfrm>
        </p:spPr>
        <p:txBody>
          <a:bodyPr>
            <a:normAutofit/>
          </a:bodyPr>
          <a:lstStyle/>
          <a:p>
            <a:r>
              <a:rPr lang="en-US" sz="1800" dirty="0"/>
              <a:t>Introduction to machine learning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10FE2-9F1E-7EF5-0ED7-F6D4AD1B7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845574"/>
            <a:ext cx="11975690" cy="533138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What is Machine Learning (ML)?</a:t>
            </a:r>
          </a:p>
          <a:p>
            <a:pPr marL="514350" indent="-514350">
              <a:buAutoNum type="arabicPeriod"/>
            </a:pPr>
            <a:r>
              <a:rPr lang="en-US" dirty="0"/>
              <a:t>Machine Learning (ML) is a subset of AI that enables computers to learn from data without being explicitly programmed. </a:t>
            </a:r>
          </a:p>
          <a:p>
            <a:pPr marL="514350" indent="-514350">
              <a:buAutoNum type="arabicPeriod"/>
            </a:pPr>
            <a:r>
              <a:rPr lang="en-US" dirty="0"/>
              <a:t>ML algorithms find patterns in data and make predictions or decisions based on new inputs.</a:t>
            </a:r>
          </a:p>
          <a:p>
            <a:r>
              <a:rPr lang="en-US" b="1" dirty="0"/>
              <a:t>Types of Machine Learning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Supervised Learning</a:t>
            </a:r>
            <a:r>
              <a:rPr lang="en-US" dirty="0"/>
              <a:t> – The algorithm learns from labeled data (e.g., spam detection in emails).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Unsupervised Learning</a:t>
            </a:r>
            <a:r>
              <a:rPr lang="en-US" dirty="0"/>
              <a:t> – The algorithm identifies patterns in unlabeled data (e.g., customer segmentation).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Reinforcement Learning</a:t>
            </a:r>
            <a:r>
              <a:rPr lang="en-US" dirty="0"/>
              <a:t> – The algorithm learns through trial and error using rewards (e.g., self-playing chess programs).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22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D35B-1D9B-BC74-44A7-75B5E609A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8323"/>
            <a:ext cx="12083845" cy="442451"/>
          </a:xfrm>
        </p:spPr>
        <p:txBody>
          <a:bodyPr>
            <a:normAutofit/>
          </a:bodyPr>
          <a:lstStyle/>
          <a:p>
            <a:r>
              <a:rPr lang="en-US" sz="2000" dirty="0"/>
              <a:t>Application of AI and ML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981AA-F5D6-84E0-96FB-1890C21D2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639097"/>
            <a:ext cx="12015018" cy="553786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AI &amp; ML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Image &amp; Speech Recognition (e.g., facial recognition, virtual assistants)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Natural Language Processing (e.g., chatbots, translation)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Healthcare (e.g., disease prediction, drug discovery)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Finance (e.g., fraud detection, algorithmic trading)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Autonomous Systems (e.g., self-driving cars, robotics)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74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6F20C-6F26-50D6-0D04-7EF936D41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r>
              <a:rPr lang="en-US" dirty="0"/>
              <a:t>Difference between AI, ML, DL and Gen AI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765F91-2F8D-4A08-E327-A90A7E41D7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35" y="1061885"/>
            <a:ext cx="11434917" cy="579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46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81ED-A01B-3753-B2B8-28DB67B7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21109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of Generative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BD63-57FB-C032-87DD-54ED961F7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9600"/>
            <a:ext cx="12192000" cy="6248399"/>
          </a:xfrm>
        </p:spPr>
        <p:txBody>
          <a:bodyPr/>
          <a:lstStyle/>
          <a:p>
            <a:pPr marL="0" indent="0" algn="l" rtl="0" fontAlgn="base">
              <a:lnSpc>
                <a:spcPts val="1350"/>
              </a:lnSpc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What is Generative AI?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2000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457200" indent="-457200" algn="l" rtl="0" fontAlgn="base">
              <a:lnSpc>
                <a:spcPts val="1350"/>
              </a:lnSpc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Generative AI refers to a type of artificial intelligence designed to create new content.</a:t>
            </a:r>
          </a:p>
          <a:p>
            <a:pPr marL="0" indent="0" algn="l" rtl="0" fontAlgn="base">
              <a:lnSpc>
                <a:spcPts val="13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2. Generative AI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primarily analyzes existing data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and then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produces original data, such as text, </a:t>
            </a:r>
          </a:p>
          <a:p>
            <a:pPr marL="0" indent="0" fontAlgn="base">
              <a:lnSpc>
                <a:spcPts val="13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   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images, music, and more.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 rtl="0" fontAlgn="base">
              <a:lnSpc>
                <a:spcPts val="13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3. Generative AI uses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advanced machine learning models, particularly neural networks, that </a:t>
            </a:r>
          </a:p>
          <a:p>
            <a:pPr marL="0" indent="0" algn="l" rtl="0" fontAlgn="base">
              <a:lnSpc>
                <a:spcPts val="13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   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learn patterns from vast amounts of data and use that knowledge to generate new, similar content.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fontAlgn="base">
              <a:lnSpc>
                <a:spcPts val="1350"/>
              </a:lnSpc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451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3ECA-9306-44ED-E186-23FA3B42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27586"/>
          </a:xfrm>
        </p:spPr>
        <p:txBody>
          <a:bodyPr>
            <a:normAutofit/>
          </a:bodyPr>
          <a:lstStyle/>
          <a:p>
            <a:r>
              <a:rPr lang="en-US" dirty="0"/>
              <a:t>Large language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9B016-BA1D-4666-9897-BBD38199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7588"/>
            <a:ext cx="12064181" cy="6037006"/>
          </a:xfrm>
        </p:spPr>
        <p:txBody>
          <a:bodyPr/>
          <a:lstStyle/>
          <a:p>
            <a:pPr marL="342900" indent="-342900" algn="just" rtl="0" fontAlgn="base">
              <a:lnSpc>
                <a:spcPts val="1950"/>
              </a:lnSpc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"Large Language Model" refers to a type of artificial intelligence model that is designed to understand and generate   human-like text based on the input it receives. </a:t>
            </a:r>
          </a:p>
          <a:p>
            <a:pPr marL="342900" indent="-342900" algn="just" rtl="0" fontAlgn="base">
              <a:lnSpc>
                <a:spcPts val="1950"/>
              </a:lnSpc>
              <a:buAutoNum type="arabicPeriod" startAt="2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These models are typically trained on massive datasets containing a wide range of text from the internet, books, articles,  and more. </a:t>
            </a:r>
          </a:p>
          <a:p>
            <a:pPr marL="0" indent="0" algn="just" rtl="0" fontAlgn="base">
              <a:lnSpc>
                <a:spcPts val="1950"/>
              </a:lnSpc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3. They use deep learning techniques, particularly transformer architectures, to process and</a:t>
            </a:r>
          </a:p>
          <a:p>
            <a:pPr marL="0" indent="0" algn="just" rtl="0" fontAlgn="base">
              <a:lnSpc>
                <a:spcPts val="19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generate text.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just" rtl="0" fontAlgn="base">
              <a:lnSpc>
                <a:spcPts val="1950"/>
              </a:lnSpc>
              <a:buNone/>
            </a:pPr>
            <a:r>
              <a:rPr lang="en-US" sz="2400" dirty="0"/>
              <a:t>4. A </a:t>
            </a:r>
            <a:r>
              <a:rPr lang="en-US" sz="2400" b="1" dirty="0"/>
              <a:t>Transformer</a:t>
            </a:r>
            <a:r>
              <a:rPr lang="en-US" sz="2400" dirty="0"/>
              <a:t> is a deep learning model architecture designed for </a:t>
            </a:r>
            <a:r>
              <a:rPr lang="en-US" sz="2400" b="1" dirty="0"/>
              <a:t>natural language</a:t>
            </a:r>
          </a:p>
          <a:p>
            <a:pPr marL="0" indent="0" algn="just" rtl="0" fontAlgn="base">
              <a:lnSpc>
                <a:spcPts val="1950"/>
              </a:lnSpc>
              <a:buNone/>
            </a:pPr>
            <a:r>
              <a:rPr lang="en-US" sz="2400" b="1" dirty="0"/>
              <a:t>    processing (NLP)</a:t>
            </a:r>
            <a:r>
              <a:rPr lang="en-US" sz="2400" dirty="0"/>
              <a:t> tasks such as </a:t>
            </a:r>
            <a:r>
              <a:rPr lang="en-US" sz="2400" b="1" dirty="0"/>
              <a:t>language translation, text generation, and question-</a:t>
            </a:r>
          </a:p>
          <a:p>
            <a:pPr marL="0" indent="0" algn="just" rtl="0" fontAlgn="base">
              <a:lnSpc>
                <a:spcPts val="1950"/>
              </a:lnSpc>
              <a:buNone/>
            </a:pPr>
            <a:r>
              <a:rPr lang="en-US" sz="2400" b="1" dirty="0"/>
              <a:t>     answering.</a:t>
            </a:r>
            <a:r>
              <a:rPr lang="en-US" sz="2400" dirty="0"/>
              <a:t> It was introduced in the paper </a:t>
            </a:r>
            <a:r>
              <a:rPr lang="en-US" sz="2400" b="1" dirty="0"/>
              <a:t>"Attention Is All You Need" (2017)</a:t>
            </a:r>
            <a:endParaRPr lang="en-US" sz="24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 algn="just" rtl="0" fontAlgn="base">
              <a:lnSpc>
                <a:spcPts val="1950"/>
              </a:lnSpc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 These models are pre-trained on vast datasets, which allows them to learn linguistic patterns, semantics, and context. 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just" rtl="0" fontAlgn="base">
              <a:lnSpc>
                <a:spcPts val="1950"/>
              </a:lnSpc>
              <a:buNone/>
            </a:pPr>
            <a:r>
              <a:rPr lang="en-US" sz="2400" u="none" strike="noStrike" dirty="0">
                <a:solidFill>
                  <a:srgbClr val="000000"/>
                </a:solidFill>
                <a:latin typeface="Calibri" panose="020F0502020204030204" pitchFamily="34" charset="0"/>
              </a:rPr>
              <a:t>6.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These models can perform various NLP tasks, such as text generation, text completion, translation, summarization, question answering, and more.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just" rtl="0" fontAlgn="base">
              <a:lnSpc>
                <a:spcPts val="1950"/>
              </a:lnSpc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7. They have been used in a wide range of applications, including chatbots, language translation services, content generation, and even code generation.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l" rtl="0" fontAlgn="base">
              <a:lnSpc>
                <a:spcPts val="225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3297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A7BF-0E20-5951-5E50-6968700C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Small language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B43D4-3873-1415-E08A-6FA17E541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5910"/>
            <a:ext cx="12192000" cy="6032089"/>
          </a:xfrm>
        </p:spPr>
        <p:txBody>
          <a:bodyPr/>
          <a:lstStyle/>
          <a:p>
            <a:pPr marL="0" indent="0" algn="just" rtl="0" fontAlgn="base">
              <a:lnSpc>
                <a:spcPts val="1650"/>
              </a:lnSpc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 </a:t>
            </a:r>
            <a:r>
              <a:rPr lang="en-US" sz="24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."Small language model" usually refers to a language model with fewer parameters</a:t>
            </a:r>
          </a:p>
          <a:p>
            <a:pPr marL="0" indent="0" algn="just" rtl="0" fontAlgn="base">
              <a:lnSpc>
                <a:spcPts val="1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     </a:t>
            </a:r>
            <a:r>
              <a:rPr lang="en-US" sz="24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compared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 larger models. Examples are Phi-1, Phi-2, </a:t>
            </a:r>
            <a:r>
              <a:rPr lang="en-US" sz="240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Lamini</a:t>
            </a:r>
            <a:r>
              <a:rPr lang="en-US" sz="24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etc.</a:t>
            </a:r>
            <a:r>
              <a:rPr lang="en-US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just" rtl="0" fontAlgn="base">
              <a:lnSpc>
                <a:spcPts val="1650"/>
              </a:lnSpc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2. Reduced Model Size: 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Small language models consume less memory and computational</a:t>
            </a:r>
          </a:p>
          <a:p>
            <a:pPr marL="0" indent="0" algn="just" rtl="0" fontAlgn="base">
              <a:lnSpc>
                <a:spcPts val="1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resources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just" rtl="0" fontAlgn="base">
              <a:lnSpc>
                <a:spcPts val="1650"/>
              </a:lnSpc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3. Resource Efficiency: Resource is less so management is easy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just" rtl="0" fontAlgn="base">
              <a:lnSpc>
                <a:spcPts val="1650"/>
              </a:lnSpc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4. Domain-Specific Use: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We can build domain-specific small language models for our use such as</a:t>
            </a:r>
          </a:p>
          <a:p>
            <a:pPr marL="0" indent="0" algn="just" rtl="0" fontAlgn="base">
              <a:lnSpc>
                <a:spcPts val="1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legal, medical, etc.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just" rtl="0" fontAlgn="base">
              <a:lnSpc>
                <a:spcPts val="1650"/>
              </a:lnSpc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 Fast Inference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Smaller models typically require less computation during inference, which</a:t>
            </a:r>
          </a:p>
          <a:p>
            <a:pPr marL="0" indent="0" algn="l" rtl="0" fontAlgn="base">
              <a:lnSpc>
                <a:spcPts val="1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leads to faster response times.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70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0A0D-D35F-E28C-0150-33C70218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WordVisi_MSFontService"/>
              </a:rPr>
              <a:t>Multimodal Large Multimodal LLM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3C1D6-115F-73B1-934B-D276F3E6E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25910"/>
            <a:ext cx="12083845" cy="5351053"/>
          </a:xfrm>
        </p:spPr>
        <p:txBody>
          <a:bodyPr/>
          <a:lstStyle/>
          <a:p>
            <a:pPr marL="342900" indent="-342900" algn="l" rtl="0" fontAlgn="base">
              <a:lnSpc>
                <a:spcPts val="1950"/>
              </a:lnSpc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Multimodal LLMs are the language model which deals with text (translation, language modeling), image (object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detection,image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classification), or audio (speech recognition).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342900" indent="-342900" algn="l" rtl="0" fontAlgn="base">
              <a:lnSpc>
                <a:spcPts val="1950"/>
              </a:lnSpc>
              <a:buAutoNum type="arabicPeriod" startAt="2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 example, 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text-to-image models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like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Midjourney, Stable Diffusion, and Dall-E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are multimodal.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l" rtl="0" fontAlgn="base">
              <a:lnSpc>
                <a:spcPts val="1950"/>
              </a:lnSpc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3.   Multimodal can mean one or more of the following: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Input and output are of different modalities (e.g. text-to-image, image-to-text)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Inputs are multimodal (e.g. a system that can process both text and images)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Outputs are multimodal (e.g. a system that can generate both text and images)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l" rtl="0" fontAlgn="base">
              <a:lnSpc>
                <a:spcPts val="1950"/>
              </a:lnSpc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206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600E-B7AE-0508-9B80-64ADA7026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23174" cy="875070"/>
          </a:xfrm>
        </p:spPr>
        <p:txBody>
          <a:bodyPr>
            <a:normAutofit/>
          </a:bodyPr>
          <a:lstStyle/>
          <a:p>
            <a:r>
              <a:rPr lang="it-IT" sz="2800" b="0" i="0" u="none" strike="noStrike" dirty="0">
                <a:effectLst/>
                <a:latin typeface="Calibri" panose="020F0502020204030204" pitchFamily="34" charset="0"/>
              </a:rPr>
              <a:t>Core Generative AI Models: LLMs</a:t>
            </a:r>
            <a:r>
              <a:rPr lang="it-IT" sz="2800" b="0" i="0" dirty="0">
                <a:effectLst/>
                <a:latin typeface="Calibri" panose="020F0502020204030204" pitchFamily="34" charset="0"/>
              </a:rPr>
              <a:t> 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A0F1D-14C2-BEF5-1A79-3BB77EFFE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3058"/>
            <a:ext cx="12123174" cy="5864941"/>
          </a:xfrm>
        </p:spPr>
        <p:txBody>
          <a:bodyPr/>
          <a:lstStyle/>
          <a:p>
            <a:pPr marL="0" indent="0" algn="l" rtl="0" fontAlgn="base">
              <a:lnSpc>
                <a:spcPts val="2100"/>
              </a:lnSpc>
              <a:buNone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Milestone LLM Models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</a:t>
            </a:r>
            <a:endParaRPr lang="en-GB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BERT: 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Bidirectional Encoder Representations from Transformers (BERT) was developed by Google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GPT: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GPT stands for "Generative Pre-trained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Transformer".The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model was developed by OpenAI 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XLM: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Cross-lingual Language Model Pretraining by Guillaume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Lample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Alexis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Conneau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T5: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The Text-to-Text Transfer Transformer It was created by Google AI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Megatron: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Megatron is a large, powerful transformer developed by the Applied Deep Learning Research team at NVIDIA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M2M-100: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multilingual encoder-decoder (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seq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-to-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seq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 model researchers at Facebook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717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32EB-4239-5BA1-26AE-A1398A6ED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5741"/>
          </a:xfrm>
        </p:spPr>
        <p:txBody>
          <a:bodyPr>
            <a:normAutofit/>
          </a:bodyPr>
          <a:lstStyle/>
          <a:p>
            <a:r>
              <a:rPr lang="it-IT" sz="2800" b="0" i="0" u="none" strike="noStrike" dirty="0">
                <a:effectLst/>
                <a:latin typeface="Calibri" panose="020F0502020204030204" pitchFamily="34" charset="0"/>
              </a:rPr>
              <a:t>Core Generative AI Models: LLMs</a:t>
            </a:r>
            <a:r>
              <a:rPr lang="it-IT" sz="2800" b="0" i="0" dirty="0">
                <a:effectLst/>
                <a:latin typeface="Calibri" panose="020F0502020204030204" pitchFamily="34" charset="0"/>
              </a:rPr>
              <a:t> 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998EA-E8E3-C6DC-7B43-C45B6CC06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43897"/>
            <a:ext cx="12191999" cy="5914102"/>
          </a:xfrm>
        </p:spPr>
        <p:txBody>
          <a:bodyPr/>
          <a:lstStyle/>
          <a:p>
            <a:pPr marL="0" indent="0" algn="l" rtl="0" fontAlgn="base">
              <a:lnSpc>
                <a:spcPts val="2100"/>
              </a:lnSpc>
              <a:buNone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OpenAI LLM Models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GB" b="1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GPT-4 and GPT-4 Turbo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A set of models that improve on GPT-3.5 and can understand as well as generate natural language or code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GPT-3.5: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A set of models that improve on GPT-3 and can understand as well as generate natural language or code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DALL·E: 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model that can generate and edit images given a natural language prompt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TTS: 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set of models that can convert text into natural sounding spoken audio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Whisper: 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model that can convert audio into text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89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6FA1-2B55-B408-2DDE-F885649C1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94736"/>
          </a:xfrm>
        </p:spPr>
        <p:txBody>
          <a:bodyPr>
            <a:normAutofit/>
          </a:bodyPr>
          <a:lstStyle/>
          <a:p>
            <a:r>
              <a:rPr lang="en-US" dirty="0"/>
              <a:t>Large language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1A8C3-9003-17BD-64BC-588AD449C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894736"/>
            <a:ext cx="12083845" cy="59632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Google AI LLM model</a:t>
            </a:r>
          </a:p>
          <a:p>
            <a:pPr marL="0" indent="0">
              <a:buNone/>
            </a:pPr>
            <a:r>
              <a:rPr lang="en-US" sz="1600" dirty="0"/>
              <a:t>1.PalM2</a:t>
            </a:r>
          </a:p>
          <a:p>
            <a:pPr marL="0" indent="0">
              <a:buNone/>
            </a:pPr>
            <a:r>
              <a:rPr lang="en-US" sz="1600" dirty="0"/>
              <a:t>2. Gemini-Pro</a:t>
            </a:r>
          </a:p>
          <a:p>
            <a:pPr marL="0" indent="0">
              <a:buNone/>
            </a:pPr>
            <a:r>
              <a:rPr lang="en-US" sz="1600" dirty="0"/>
              <a:t>3. Gemini-Pro-vision</a:t>
            </a:r>
          </a:p>
          <a:p>
            <a:pPr marL="0" indent="0">
              <a:buNone/>
            </a:pPr>
            <a:r>
              <a:rPr lang="en-IN" sz="1600" dirty="0"/>
              <a:t>Open source LLM models</a:t>
            </a:r>
          </a:p>
          <a:p>
            <a:pPr marL="342900" indent="-342900">
              <a:buAutoNum type="arabicPeriod"/>
            </a:pPr>
            <a:r>
              <a:rPr lang="en-IN" sz="1600" dirty="0"/>
              <a:t>Bloom</a:t>
            </a:r>
          </a:p>
          <a:p>
            <a:pPr marL="342900" indent="-342900">
              <a:buAutoNum type="arabicPeriod"/>
            </a:pPr>
            <a:r>
              <a:rPr lang="en-IN" sz="1600" dirty="0"/>
              <a:t>Lama2</a:t>
            </a:r>
          </a:p>
          <a:p>
            <a:pPr marL="342900" indent="-342900">
              <a:buAutoNum type="arabicPeriod"/>
            </a:pPr>
            <a:r>
              <a:rPr lang="en-IN" sz="1600" dirty="0" err="1"/>
              <a:t>PalM</a:t>
            </a:r>
            <a:endParaRPr lang="en-IN" sz="1600" dirty="0"/>
          </a:p>
          <a:p>
            <a:pPr marL="342900" indent="-342900">
              <a:buAutoNum type="arabicPeriod"/>
            </a:pPr>
            <a:r>
              <a:rPr lang="en-IN" sz="1600" dirty="0"/>
              <a:t>Falcon</a:t>
            </a:r>
          </a:p>
          <a:p>
            <a:pPr marL="342900" indent="-342900">
              <a:buAutoNum type="arabicPeriod"/>
            </a:pPr>
            <a:r>
              <a:rPr lang="en-IN" sz="1600" dirty="0"/>
              <a:t>Claude</a:t>
            </a:r>
          </a:p>
          <a:p>
            <a:pPr marL="342900" indent="-342900">
              <a:buAutoNum type="arabicPeriod"/>
            </a:pPr>
            <a:r>
              <a:rPr lang="en-IN" sz="1600" dirty="0"/>
              <a:t>MPT-30B</a:t>
            </a:r>
          </a:p>
          <a:p>
            <a:pPr marL="342900" indent="-342900">
              <a:buAutoNum type="arabicPeriod"/>
            </a:pPr>
            <a:r>
              <a:rPr lang="en-IN" sz="1600" dirty="0" err="1"/>
              <a:t>Stablelm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79146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6338-465A-4324-72AF-BC8ACB17D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484"/>
            <a:ext cx="11353800" cy="894736"/>
          </a:xfrm>
        </p:spPr>
        <p:txBody>
          <a:bodyPr>
            <a:normAutofit/>
          </a:bodyPr>
          <a:lstStyle/>
          <a:p>
            <a:r>
              <a:rPr lang="en-US" dirty="0"/>
              <a:t>New LLM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1F174-528E-22D8-15A9-2151F344E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914400"/>
            <a:ext cx="11265310" cy="5262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Deepseek-R1 model(LLM)- this model generate by </a:t>
            </a:r>
            <a:r>
              <a:rPr lang="en-US" dirty="0" err="1"/>
              <a:t>deepseek</a:t>
            </a:r>
            <a:r>
              <a:rPr lang="en-US" dirty="0"/>
              <a:t> AI Chinese based company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5680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1672-3D98-C1B2-8FAA-21B4C5F6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r>
              <a:rPr lang="en-US" sz="4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Prompt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0A1D-9145-7C9B-E78D-63A7255B9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45574"/>
            <a:ext cx="12093677" cy="5919020"/>
          </a:xfrm>
        </p:spPr>
        <p:txBody>
          <a:bodyPr/>
          <a:lstStyle/>
          <a:p>
            <a:pPr marL="0" indent="0" algn="l" rtl="0" fontAlgn="base">
              <a:lnSpc>
                <a:spcPts val="1950"/>
              </a:lnSpc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Prompt Engineering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950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Prompt engineering is the process of designing and refining prompts to effectively interact with AI models, particularly large language models like GPT-3 and GPT-4. The goal is to craft prompts that guide the model to produce the desired output.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algn="l" rtl="0" fontAlgn="base">
              <a:lnSpc>
                <a:spcPts val="1950"/>
              </a:lnSpc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Purpose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Helps in obtaining accurate and relevant responses from AI models.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Techniques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Involves experimenting with different wordings, structures, and contexts to see what works best.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Importance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Good prompt engineering can significantly improve the quality and usefulness of AI-generated responses.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>
              <a:buNone/>
            </a:pPr>
            <a:r>
              <a:rPr lang="en-US" sz="2400" b="1" dirty="0"/>
              <a:t>What is Completion in Generative AI?</a:t>
            </a:r>
          </a:p>
          <a:p>
            <a:r>
              <a:rPr lang="en-US" sz="2400" dirty="0"/>
              <a:t>Completion in Generative AI refers to the ability of an AI model to </a:t>
            </a:r>
            <a:r>
              <a:rPr lang="en-US" sz="2400" b="1" dirty="0"/>
              <a:t>predict and generate</a:t>
            </a:r>
            <a:r>
              <a:rPr lang="en-US" sz="2400" dirty="0"/>
              <a:t> missing or next sequences of text, code, images, or other content based on a given input. This is widely used in </a:t>
            </a:r>
            <a:r>
              <a:rPr lang="en-US" sz="2400" b="1" dirty="0"/>
              <a:t>text autocompletion, code generation, and creative content generation.</a:t>
            </a:r>
            <a:endParaRPr lang="en-US" sz="2400" dirty="0"/>
          </a:p>
          <a:p>
            <a:pPr marL="0" indent="0" algn="l" rtl="0" fontAlgn="base">
              <a:lnSpc>
                <a:spcPts val="1950"/>
              </a:lnSpc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976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CE25-B325-9796-BC68-5D9B637C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76747"/>
          </a:xfrm>
        </p:spPr>
        <p:txBody>
          <a:bodyPr>
            <a:normAutofit/>
          </a:bodyPr>
          <a:lstStyle/>
          <a:p>
            <a:r>
              <a:rPr lang="en-US" sz="2800" dirty="0"/>
              <a:t>Use cases of generative AI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DEF9A-2608-5F6C-5FD6-399BBBC7F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3" y="934066"/>
            <a:ext cx="11916697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Text Generation &amp; Processing</a:t>
            </a:r>
          </a:p>
          <a:p>
            <a:pPr marL="0" indent="0">
              <a:buNone/>
            </a:pPr>
            <a:r>
              <a:rPr lang="en-IN" sz="2400" dirty="0"/>
              <a:t>Example: Chatbots &amp; Virtual Assistants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AI-powered chatbots like ChatGPT, Google Bard, and Claude provide human-like responses in conversations.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Used in customer support, content writing, and personal assistants (Siri, Alexa).</a:t>
            </a:r>
          </a:p>
          <a:p>
            <a:pPr marL="0" indent="0">
              <a:buNone/>
            </a:pPr>
            <a:r>
              <a:rPr lang="en-IN" sz="2400" b="1" dirty="0"/>
              <a:t>Code Generation &amp; Completion</a:t>
            </a:r>
          </a:p>
          <a:p>
            <a:pPr marL="0" indent="0">
              <a:buNone/>
            </a:pPr>
            <a:r>
              <a:rPr lang="en-IN" sz="2400" dirty="0"/>
              <a:t>Example: AI-Powered Coding Assistants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GitHub Copilot, </a:t>
            </a:r>
            <a:r>
              <a:rPr lang="en-IN" sz="2400" dirty="0" err="1"/>
              <a:t>CodeGPT</a:t>
            </a:r>
            <a:r>
              <a:rPr lang="en-IN" sz="2400" dirty="0"/>
              <a:t>, and </a:t>
            </a:r>
            <a:r>
              <a:rPr lang="en-IN" sz="2400" dirty="0" err="1"/>
              <a:t>Tabnine</a:t>
            </a:r>
            <a:r>
              <a:rPr lang="en-IN" sz="2400" dirty="0"/>
              <a:t> help developers by suggesting and completing code.</a:t>
            </a:r>
          </a:p>
          <a:p>
            <a:pPr marL="0" indent="0">
              <a:buNone/>
            </a:pPr>
            <a:r>
              <a:rPr lang="en-US" sz="2400" b="1" dirty="0"/>
              <a:t>Image Generation &amp; Editing</a:t>
            </a:r>
          </a:p>
          <a:p>
            <a:pPr marL="0" indent="0">
              <a:buNone/>
            </a:pPr>
            <a:r>
              <a:rPr lang="en-US" sz="2400" b="1" dirty="0"/>
              <a:t>  </a:t>
            </a:r>
            <a:r>
              <a:rPr lang="en-US" sz="2400" dirty="0"/>
              <a:t>Example: AI Art &amp;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Tools like DALL·E, Stable Diffusion, and </a:t>
            </a:r>
            <a:r>
              <a:rPr lang="en-US" sz="2400" dirty="0" err="1"/>
              <a:t>MidJourney</a:t>
            </a:r>
            <a:r>
              <a:rPr lang="en-US" sz="2400" dirty="0"/>
              <a:t> create realistic or artistic images from text prompts.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756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1312</Words>
  <Application>Microsoft Office PowerPoint</Application>
  <PresentationFormat>Widescreen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Segoe UI</vt:lpstr>
      <vt:lpstr>WordVisi_MSFontService</vt:lpstr>
      <vt:lpstr>Office Theme</vt:lpstr>
      <vt:lpstr>Introduction of Generative AI</vt:lpstr>
      <vt:lpstr>Introduction to AI</vt:lpstr>
      <vt:lpstr>Introduction to machine learning</vt:lpstr>
      <vt:lpstr>Application of AI and ML</vt:lpstr>
      <vt:lpstr>Difference between AI, ML, DL and Gen AI</vt:lpstr>
      <vt:lpstr>Introduction of Generative AI</vt:lpstr>
      <vt:lpstr>Large language model</vt:lpstr>
      <vt:lpstr>Small language model</vt:lpstr>
      <vt:lpstr>Multimodal Large Multimodal LLM</vt:lpstr>
      <vt:lpstr>Core Generative AI Models: LLMs </vt:lpstr>
      <vt:lpstr>Core Generative AI Models: LLMs </vt:lpstr>
      <vt:lpstr>Large language model</vt:lpstr>
      <vt:lpstr>New LLM model</vt:lpstr>
      <vt:lpstr>Prompt Engineering</vt:lpstr>
      <vt:lpstr>Use cases of generative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FNU LNU</dc:creator>
  <cp:lastModifiedBy>jagatmjp@gmail.com</cp:lastModifiedBy>
  <cp:revision>5</cp:revision>
  <dcterms:created xsi:type="dcterms:W3CDTF">2024-11-09T13:47:36Z</dcterms:created>
  <dcterms:modified xsi:type="dcterms:W3CDTF">2025-02-02T15:00:39Z</dcterms:modified>
</cp:coreProperties>
</file>